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Amatic SC"/>
      <p:regular r:id="rId16"/>
      <p:bold r:id="rId17"/>
    </p:embeddedFont>
    <p:embeddedFont>
      <p:font typeface="Source Code Pr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SourceCodePr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AmaticSC-bold.fntdata"/><Relationship Id="rId16" Type="http://schemas.openxmlformats.org/officeDocument/2006/relationships/font" Target="fonts/AmaticSC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bold.fntdata"/><Relationship Id="rId6" Type="http://schemas.openxmlformats.org/officeDocument/2006/relationships/slide" Target="slides/slide1.xml"/><Relationship Id="rId18" Type="http://schemas.openxmlformats.org/officeDocument/2006/relationships/font" Target="fonts/SourceCodePr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57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22867"/>
            <a:ext cx="8520600" cy="358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5187200"/>
            <a:ext cx="8520600" cy="94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100"/>
              <a:buNone/>
              <a:defRPr b="1" sz="21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2802750" y="1070000"/>
            <a:ext cx="3538500" cy="47181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638233"/>
            <a:ext cx="3999900" cy="445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04800" y="412467"/>
            <a:ext cx="8537700" cy="9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701800"/>
            <a:ext cx="56187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33"/>
            <a:ext cx="457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5994000"/>
            <a:ext cx="468300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441867"/>
            <a:ext cx="4045200" cy="228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3793630"/>
            <a:ext cx="4045200" cy="179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965600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5640767"/>
            <a:ext cx="5998800" cy="79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matic SC"/>
              <a:buNone/>
              <a:defRPr b="1" sz="24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653700"/>
            <a:ext cx="8520600" cy="264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  <a:highlight>
                  <a:schemeClr val="accent1"/>
                </a:highlight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44061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2200"/>
            </a:lvl1pPr>
            <a:lvl2pPr indent="-3429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beach-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90467"/>
            <a:ext cx="8520600" cy="106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Font typeface="Amatic SC"/>
              <a:buNone/>
              <a:defRPr b="1" sz="4200">
                <a:solidFill>
                  <a:schemeClr val="accent1"/>
                </a:solidFill>
                <a:latin typeface="Amatic SC"/>
                <a:ea typeface="Amatic SC"/>
                <a:cs typeface="Amatic SC"/>
                <a:sym typeface="Amatic SC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638233"/>
            <a:ext cx="8520600" cy="44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ctrTitle"/>
          </p:nvPr>
        </p:nvSpPr>
        <p:spPr>
          <a:xfrm>
            <a:off x="685800" y="86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Color Psychology Study</a:t>
            </a:r>
            <a:endParaRPr/>
          </a:p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1221200" y="233042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52381"/>
              <a:buNone/>
            </a:pPr>
            <a:r>
              <a:rPr lang="en-US">
                <a:solidFill>
                  <a:srgbClr val="888888"/>
                </a:solidFill>
              </a:rPr>
              <a:t>Understanding the Impact of Colors in UI/UX Design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52381"/>
              <a:buNone/>
            </a:pPr>
            <a:r>
              <a:t/>
            </a:r>
            <a:endParaRPr>
              <a:solidFill>
                <a:srgbClr val="888888"/>
              </a:solidFill>
            </a:endParaRPr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52381"/>
              <a:buNone/>
            </a:pPr>
            <a:r>
              <a:rPr lang="en-US">
                <a:solidFill>
                  <a:srgbClr val="888888"/>
                </a:solidFill>
              </a:rPr>
              <a:t>Prepared by: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52381"/>
              <a:buNone/>
            </a:pPr>
            <a:r>
              <a:rPr lang="en-US"/>
              <a:t>           </a:t>
            </a:r>
            <a:r>
              <a:rPr lang="en-US">
                <a:solidFill>
                  <a:srgbClr val="888888"/>
                </a:solidFill>
              </a:rPr>
              <a:t>Name: </a:t>
            </a:r>
            <a:r>
              <a:rPr lang="en-US"/>
              <a:t>TANVI MAHOLKAR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52381"/>
              <a:buNone/>
            </a:pPr>
            <a:r>
              <a:rPr lang="en-US">
                <a:solidFill>
                  <a:srgbClr val="888888"/>
                </a:solidFill>
              </a:rPr>
              <a:t>Intern ID: </a:t>
            </a:r>
            <a:r>
              <a:rPr lang="en-US"/>
              <a:t>CITS6812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/>
              <a:t>• Explore how colors influence user emotions.</a:t>
            </a:r>
            <a:br>
              <a:rPr lang="en-US"/>
            </a:br>
            <a:r>
              <a:rPr lang="en-US"/>
              <a:t>• Study the importance of color psychology in UI/UX.</a:t>
            </a:r>
            <a:br>
              <a:rPr lang="en-US"/>
            </a:br>
            <a:r>
              <a:rPr lang="en-US"/>
              <a:t>• Analyze popular brands and their color choices.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Objectives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• Understand color psychology.</a:t>
            </a:r>
            <a:br>
              <a:rPr lang="en-US" sz="2200"/>
            </a:br>
            <a:r>
              <a:rPr lang="en-US" sz="2200"/>
              <a:t>• Improve user engagement.</a:t>
            </a:r>
            <a:br>
              <a:rPr lang="en-US" sz="2200"/>
            </a:br>
            <a:r>
              <a:rPr lang="en-US" sz="2200"/>
              <a:t>• Analyze branding.</a:t>
            </a:r>
            <a:br>
              <a:rPr lang="en-US" sz="2200"/>
            </a:br>
            <a:r>
              <a:rPr lang="en-US" sz="2200"/>
              <a:t>• Enhance accessibility.</a:t>
            </a:r>
            <a:br>
              <a:rPr lang="en-US" sz="2200"/>
            </a:br>
            <a:r>
              <a:rPr lang="en-US" sz="2200"/>
              <a:t>• Recommend effective color usage.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Importance of Colors in UI/UX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• Creates first impressions.</a:t>
            </a:r>
            <a:br>
              <a:rPr lang="en-US" sz="2200"/>
            </a:br>
            <a:r>
              <a:rPr lang="en-US" sz="2200"/>
              <a:t>• Builds trust.</a:t>
            </a:r>
            <a:br>
              <a:rPr lang="en-US" sz="2200"/>
            </a:br>
            <a:r>
              <a:rPr lang="en-US" sz="2200"/>
              <a:t>• Guides user attention.</a:t>
            </a:r>
            <a:br>
              <a:rPr lang="en-US" sz="2200"/>
            </a:br>
            <a:r>
              <a:rPr lang="en-US" sz="2200"/>
              <a:t>• Improves readability.</a:t>
            </a:r>
            <a:br>
              <a:rPr lang="en-US" sz="2200"/>
            </a:br>
            <a:r>
              <a:rPr lang="en-US" sz="2200"/>
              <a:t>• Strengthens brand identity.</a:t>
            </a:r>
            <a:br>
              <a:rPr lang="en-US" sz="2200"/>
            </a:br>
            <a:r>
              <a:rPr lang="en-US" sz="2200"/>
              <a:t>• Supports navigation.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Meaning of Common Colors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Blue – Trust</a:t>
            </a:r>
            <a:br>
              <a:rPr lang="en-US" sz="2200"/>
            </a:br>
            <a:r>
              <a:rPr lang="en-US" sz="2200"/>
              <a:t>Green – Growth</a:t>
            </a:r>
            <a:br>
              <a:rPr lang="en-US" sz="2200"/>
            </a:br>
            <a:r>
              <a:rPr lang="en-US" sz="2200"/>
              <a:t>Red – Urgency</a:t>
            </a:r>
            <a:br>
              <a:rPr lang="en-US" sz="2200"/>
            </a:br>
            <a:r>
              <a:rPr lang="en-US" sz="2200"/>
              <a:t>Yellow – Optimism</a:t>
            </a:r>
            <a:br>
              <a:rPr lang="en-US" sz="2200"/>
            </a:br>
            <a:r>
              <a:rPr lang="en-US" sz="2200"/>
              <a:t>Orange – Energy</a:t>
            </a:r>
            <a:br>
              <a:rPr lang="en-US" sz="2200"/>
            </a:br>
            <a:r>
              <a:rPr lang="en-US" sz="2200"/>
              <a:t>Purple – Creativity</a:t>
            </a:r>
            <a:br>
              <a:rPr lang="en-US" sz="2200"/>
            </a:br>
            <a:r>
              <a:rPr lang="en-US" sz="2200"/>
              <a:t>Black – Luxury</a:t>
            </a:r>
            <a:br>
              <a:rPr lang="en-US" sz="2200"/>
            </a:br>
            <a:r>
              <a:rPr lang="en-US" sz="2200"/>
              <a:t>White – Simplicity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Warm vs Cool Colors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Warm Colors:</a:t>
            </a:r>
            <a:br>
              <a:rPr lang="en-US" sz="2200"/>
            </a:br>
            <a:r>
              <a:rPr lang="en-US" sz="2200"/>
              <a:t>• Red</a:t>
            </a:r>
            <a:br>
              <a:rPr lang="en-US" sz="2200"/>
            </a:br>
            <a:r>
              <a:rPr lang="en-US" sz="2200"/>
              <a:t>• Orange</a:t>
            </a:r>
            <a:br>
              <a:rPr lang="en-US" sz="2200"/>
            </a:br>
            <a:r>
              <a:rPr lang="en-US" sz="2200"/>
              <a:t>• Yellow</a:t>
            </a:r>
            <a:br>
              <a:rPr lang="en-US" sz="2200"/>
            </a:br>
            <a:br>
              <a:rPr lang="en-US" sz="2200"/>
            </a:br>
            <a:r>
              <a:rPr lang="en-US" sz="2200"/>
              <a:t>Cool Colors:</a:t>
            </a:r>
            <a:br>
              <a:rPr lang="en-US" sz="2200"/>
            </a:br>
            <a:r>
              <a:rPr lang="en-US" sz="2200"/>
              <a:t>• Blue</a:t>
            </a:r>
            <a:br>
              <a:rPr lang="en-US" sz="2200"/>
            </a:br>
            <a:r>
              <a:rPr lang="en-US" sz="2200"/>
              <a:t>• Green</a:t>
            </a:r>
            <a:br>
              <a:rPr lang="en-US" sz="2200"/>
            </a:br>
            <a:r>
              <a:rPr lang="en-US" sz="2200"/>
              <a:t>• Purple</a:t>
            </a:r>
            <a:br>
              <a:rPr lang="en-US" sz="2200"/>
            </a:br>
            <a:br>
              <a:rPr lang="en-US" sz="2200"/>
            </a:br>
            <a:r>
              <a:rPr lang="en-US" sz="2200"/>
              <a:t>Warm colors attract attention, while cool colors create trust and calmness.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Brand Color Analysis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Facebook – Blue</a:t>
            </a:r>
            <a:br>
              <a:rPr lang="en-US" sz="2200"/>
            </a:br>
            <a:r>
              <a:rPr lang="en-US" sz="2200"/>
              <a:t>WhatsApp – Green</a:t>
            </a:r>
            <a:br>
              <a:rPr lang="en-US" sz="2200"/>
            </a:br>
            <a:r>
              <a:rPr lang="en-US" sz="2200"/>
              <a:t>YouTube – Red</a:t>
            </a:r>
            <a:br>
              <a:rPr lang="en-US" sz="2200"/>
            </a:br>
            <a:r>
              <a:rPr lang="en-US" sz="2200"/>
              <a:t>Spotify – Green</a:t>
            </a:r>
            <a:br>
              <a:rPr lang="en-US" sz="2200"/>
            </a:br>
            <a:r>
              <a:rPr lang="en-US" sz="2200"/>
              <a:t>Netflix – Red</a:t>
            </a:r>
            <a:br>
              <a:rPr lang="en-US" sz="2200"/>
            </a:br>
            <a:r>
              <a:rPr lang="en-US" sz="2200"/>
              <a:t>LinkedIn – Blue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Accessibility Guidelines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• Maintain sufficient contrast.</a:t>
            </a:r>
            <a:br>
              <a:rPr lang="en-US" sz="2200"/>
            </a:br>
            <a:r>
              <a:rPr lang="en-US" sz="2200"/>
              <a:t>• Avoid using color alone to convey information.</a:t>
            </a:r>
            <a:br>
              <a:rPr lang="en-US" sz="2200"/>
            </a:br>
            <a:r>
              <a:rPr lang="en-US" sz="2200"/>
              <a:t>• Support color-blind users.</a:t>
            </a:r>
            <a:br>
              <a:rPr lang="en-US" sz="2200"/>
            </a:br>
            <a:r>
              <a:rPr lang="en-US" sz="2200"/>
              <a:t>• Test light and dark modes.</a:t>
            </a:r>
            <a:br>
              <a:rPr lang="en-US" sz="2200"/>
            </a:br>
            <a:r>
              <a:rPr lang="en-US" sz="2200"/>
              <a:t>• Follow WCAG standards.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Findings &amp; Recommendations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Key Findings:</a:t>
            </a:r>
            <a:br>
              <a:rPr lang="en-US" sz="2200"/>
            </a:br>
            <a:r>
              <a:rPr lang="en-US" sz="2200"/>
              <a:t>• Blue builds trust.</a:t>
            </a:r>
            <a:br>
              <a:rPr lang="en-US" sz="2200"/>
            </a:br>
            <a:r>
              <a:rPr lang="en-US" sz="2200"/>
              <a:t>• Green indicates success.</a:t>
            </a:r>
            <a:br>
              <a:rPr lang="en-US" sz="2200"/>
            </a:br>
            <a:r>
              <a:rPr lang="en-US" sz="2200"/>
              <a:t>• Red highlights important actions.</a:t>
            </a:r>
            <a:br>
              <a:rPr lang="en-US" sz="2200"/>
            </a:br>
            <a:br>
              <a:rPr lang="en-US" sz="2200"/>
            </a:br>
            <a:r>
              <a:rPr lang="en-US" sz="2200"/>
              <a:t>Recommendations:</a:t>
            </a:r>
            <a:br>
              <a:rPr lang="en-US" sz="2200"/>
            </a:br>
            <a:r>
              <a:rPr lang="en-US" sz="2200"/>
              <a:t>• Use consistent color palettes.</a:t>
            </a:r>
            <a:br>
              <a:rPr lang="en-US" sz="2200"/>
            </a:br>
            <a:r>
              <a:rPr lang="en-US" sz="2200"/>
              <a:t>• Test designs with users.</a:t>
            </a:r>
            <a:br>
              <a:rPr lang="en-US" sz="2200"/>
            </a:br>
            <a:r>
              <a:rPr lang="en-US" sz="2200"/>
              <a:t>• Ensure accessibility.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Conclusion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200"/>
              <a:buChar char="●"/>
            </a:pPr>
            <a:r>
              <a:rPr lang="en-US" sz="2200"/>
              <a:t>Color psychology plays a significant role in creating intuitive, engaging, and accessible digital products. Applying these principles leads to better user experiences and stronger brand identity.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each Day">
  <a:themeElements>
    <a:clrScheme name="Beach Day">
      <a:dk1>
        <a:srgbClr val="00FDC8"/>
      </a:dk1>
      <a:lt1>
        <a:srgbClr val="FFFFFF"/>
      </a:lt1>
      <a:dk2>
        <a:srgbClr val="666666"/>
      </a:dk2>
      <a:lt2>
        <a:srgbClr val="EEEEEE"/>
      </a:lt2>
      <a:accent1>
        <a:srgbClr val="212121"/>
      </a:accent1>
      <a:accent2>
        <a:srgbClr val="455A64"/>
      </a:accent2>
      <a:accent3>
        <a:srgbClr val="78909C"/>
      </a:accent3>
      <a:accent4>
        <a:srgbClr val="7C7CE0"/>
      </a:accent4>
      <a:accent5>
        <a:srgbClr val="DB4437"/>
      </a:accent5>
      <a:accent6>
        <a:srgbClr val="F6CD4C"/>
      </a:accent6>
      <a:hlink>
        <a:srgbClr val="DB4437"/>
      </a:hlink>
      <a:folHlink>
        <a:srgbClr val="DB443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